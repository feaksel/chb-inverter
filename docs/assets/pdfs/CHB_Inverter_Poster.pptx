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25452388" cy="35999738"/>
  <p:notesSz cx="35999738" cy="25452388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27999CC-68BF-4047-8FED-A53EE4DAF1BC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9D29D2-F0C5-4C9B-8DF2-745DDCD231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272600" y="1436040"/>
            <a:ext cx="22906440" cy="601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272600" y="8423640"/>
            <a:ext cx="22906440" cy="208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5040" cy="359978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4572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9144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3716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18288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286000" y="0"/>
            <a:ext cx="5040" cy="359978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27432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2004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36576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41148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4572000" y="0"/>
            <a:ext cx="5040" cy="359978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50292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54864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59436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64008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6858000" y="0"/>
            <a:ext cx="5040" cy="359978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73152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77724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82296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86868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9144000" y="0"/>
            <a:ext cx="5040" cy="359978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96012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100584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105156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109728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11430000" y="0"/>
            <a:ext cx="5040" cy="359978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118872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123444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128016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132588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13716000" y="0"/>
            <a:ext cx="5040" cy="359978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141732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146304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150876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155448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16002000" y="0"/>
            <a:ext cx="5040" cy="359978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164592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169164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173736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178308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18288000" y="0"/>
            <a:ext cx="5040" cy="359978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41"/>
          <p:cNvSpPr/>
          <p:nvPr/>
        </p:nvSpPr>
        <p:spPr>
          <a:xfrm>
            <a:off x="187452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192024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196596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44"/>
          <p:cNvSpPr/>
          <p:nvPr/>
        </p:nvSpPr>
        <p:spPr>
          <a:xfrm>
            <a:off x="201168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45"/>
          <p:cNvSpPr/>
          <p:nvPr/>
        </p:nvSpPr>
        <p:spPr>
          <a:xfrm>
            <a:off x="20574000" y="0"/>
            <a:ext cx="5040" cy="359978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46"/>
          <p:cNvSpPr/>
          <p:nvPr/>
        </p:nvSpPr>
        <p:spPr>
          <a:xfrm>
            <a:off x="210312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214884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48"/>
          <p:cNvSpPr/>
          <p:nvPr/>
        </p:nvSpPr>
        <p:spPr>
          <a:xfrm>
            <a:off x="219456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49"/>
          <p:cNvSpPr/>
          <p:nvPr/>
        </p:nvSpPr>
        <p:spPr>
          <a:xfrm>
            <a:off x="224028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50"/>
          <p:cNvSpPr/>
          <p:nvPr/>
        </p:nvSpPr>
        <p:spPr>
          <a:xfrm>
            <a:off x="22860000" y="0"/>
            <a:ext cx="5040" cy="359978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1"/>
          <p:cNvSpPr/>
          <p:nvPr/>
        </p:nvSpPr>
        <p:spPr>
          <a:xfrm>
            <a:off x="233172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52"/>
          <p:cNvSpPr/>
          <p:nvPr/>
        </p:nvSpPr>
        <p:spPr>
          <a:xfrm>
            <a:off x="237744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53"/>
          <p:cNvSpPr/>
          <p:nvPr/>
        </p:nvSpPr>
        <p:spPr>
          <a:xfrm>
            <a:off x="242316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54"/>
          <p:cNvSpPr/>
          <p:nvPr/>
        </p:nvSpPr>
        <p:spPr>
          <a:xfrm>
            <a:off x="24688800" y="0"/>
            <a:ext cx="504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55"/>
          <p:cNvSpPr/>
          <p:nvPr/>
        </p:nvSpPr>
        <p:spPr>
          <a:xfrm>
            <a:off x="25146000" y="0"/>
            <a:ext cx="5040" cy="359978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56"/>
          <p:cNvSpPr/>
          <p:nvPr/>
        </p:nvSpPr>
        <p:spPr>
          <a:xfrm>
            <a:off x="0" y="0"/>
            <a:ext cx="25450200" cy="50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57"/>
          <p:cNvSpPr/>
          <p:nvPr/>
        </p:nvSpPr>
        <p:spPr>
          <a:xfrm>
            <a:off x="0" y="4572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58"/>
          <p:cNvSpPr/>
          <p:nvPr/>
        </p:nvSpPr>
        <p:spPr>
          <a:xfrm>
            <a:off x="0" y="9144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59"/>
          <p:cNvSpPr/>
          <p:nvPr/>
        </p:nvSpPr>
        <p:spPr>
          <a:xfrm>
            <a:off x="0" y="13716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60"/>
          <p:cNvSpPr/>
          <p:nvPr/>
        </p:nvSpPr>
        <p:spPr>
          <a:xfrm>
            <a:off x="0" y="18288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61"/>
          <p:cNvSpPr/>
          <p:nvPr/>
        </p:nvSpPr>
        <p:spPr>
          <a:xfrm>
            <a:off x="0" y="2286000"/>
            <a:ext cx="25450200" cy="50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62"/>
          <p:cNvSpPr/>
          <p:nvPr/>
        </p:nvSpPr>
        <p:spPr>
          <a:xfrm>
            <a:off x="0" y="27432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63"/>
          <p:cNvSpPr/>
          <p:nvPr/>
        </p:nvSpPr>
        <p:spPr>
          <a:xfrm>
            <a:off x="0" y="32004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64"/>
          <p:cNvSpPr/>
          <p:nvPr/>
        </p:nvSpPr>
        <p:spPr>
          <a:xfrm>
            <a:off x="0" y="36576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65"/>
          <p:cNvSpPr/>
          <p:nvPr/>
        </p:nvSpPr>
        <p:spPr>
          <a:xfrm>
            <a:off x="0" y="41148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66"/>
          <p:cNvSpPr/>
          <p:nvPr/>
        </p:nvSpPr>
        <p:spPr>
          <a:xfrm>
            <a:off x="0" y="4572000"/>
            <a:ext cx="25450200" cy="50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67"/>
          <p:cNvSpPr/>
          <p:nvPr/>
        </p:nvSpPr>
        <p:spPr>
          <a:xfrm>
            <a:off x="0" y="50292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68"/>
          <p:cNvSpPr/>
          <p:nvPr/>
        </p:nvSpPr>
        <p:spPr>
          <a:xfrm>
            <a:off x="0" y="54864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69"/>
          <p:cNvSpPr/>
          <p:nvPr/>
        </p:nvSpPr>
        <p:spPr>
          <a:xfrm>
            <a:off x="0" y="59436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70"/>
          <p:cNvSpPr/>
          <p:nvPr/>
        </p:nvSpPr>
        <p:spPr>
          <a:xfrm>
            <a:off x="0" y="64008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71"/>
          <p:cNvSpPr/>
          <p:nvPr/>
        </p:nvSpPr>
        <p:spPr>
          <a:xfrm>
            <a:off x="0" y="6858000"/>
            <a:ext cx="25450200" cy="50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72"/>
          <p:cNvSpPr/>
          <p:nvPr/>
        </p:nvSpPr>
        <p:spPr>
          <a:xfrm>
            <a:off x="0" y="73152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73"/>
          <p:cNvSpPr/>
          <p:nvPr/>
        </p:nvSpPr>
        <p:spPr>
          <a:xfrm>
            <a:off x="0" y="77724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74"/>
          <p:cNvSpPr/>
          <p:nvPr/>
        </p:nvSpPr>
        <p:spPr>
          <a:xfrm>
            <a:off x="0" y="82296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75"/>
          <p:cNvSpPr/>
          <p:nvPr/>
        </p:nvSpPr>
        <p:spPr>
          <a:xfrm>
            <a:off x="0" y="86868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76"/>
          <p:cNvSpPr/>
          <p:nvPr/>
        </p:nvSpPr>
        <p:spPr>
          <a:xfrm>
            <a:off x="0" y="9144000"/>
            <a:ext cx="25450200" cy="50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77"/>
          <p:cNvSpPr/>
          <p:nvPr/>
        </p:nvSpPr>
        <p:spPr>
          <a:xfrm>
            <a:off x="0" y="96012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78"/>
          <p:cNvSpPr/>
          <p:nvPr/>
        </p:nvSpPr>
        <p:spPr>
          <a:xfrm>
            <a:off x="0" y="100584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79"/>
          <p:cNvSpPr/>
          <p:nvPr/>
        </p:nvSpPr>
        <p:spPr>
          <a:xfrm>
            <a:off x="11880" y="104346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80"/>
          <p:cNvSpPr/>
          <p:nvPr/>
        </p:nvSpPr>
        <p:spPr>
          <a:xfrm>
            <a:off x="0" y="109728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81"/>
          <p:cNvSpPr/>
          <p:nvPr/>
        </p:nvSpPr>
        <p:spPr>
          <a:xfrm>
            <a:off x="0" y="11430000"/>
            <a:ext cx="25450200" cy="50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82"/>
          <p:cNvSpPr/>
          <p:nvPr/>
        </p:nvSpPr>
        <p:spPr>
          <a:xfrm>
            <a:off x="0" y="118872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83"/>
          <p:cNvSpPr/>
          <p:nvPr/>
        </p:nvSpPr>
        <p:spPr>
          <a:xfrm>
            <a:off x="0" y="123444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84"/>
          <p:cNvSpPr/>
          <p:nvPr/>
        </p:nvSpPr>
        <p:spPr>
          <a:xfrm>
            <a:off x="0" y="128016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85"/>
          <p:cNvSpPr/>
          <p:nvPr/>
        </p:nvSpPr>
        <p:spPr>
          <a:xfrm>
            <a:off x="0" y="132588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86"/>
          <p:cNvSpPr/>
          <p:nvPr/>
        </p:nvSpPr>
        <p:spPr>
          <a:xfrm>
            <a:off x="0" y="13716000"/>
            <a:ext cx="25450200" cy="50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87"/>
          <p:cNvSpPr/>
          <p:nvPr/>
        </p:nvSpPr>
        <p:spPr>
          <a:xfrm>
            <a:off x="0" y="141732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88"/>
          <p:cNvSpPr/>
          <p:nvPr/>
        </p:nvSpPr>
        <p:spPr>
          <a:xfrm>
            <a:off x="0" y="146304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89"/>
          <p:cNvSpPr/>
          <p:nvPr/>
        </p:nvSpPr>
        <p:spPr>
          <a:xfrm>
            <a:off x="0" y="150876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90"/>
          <p:cNvSpPr/>
          <p:nvPr/>
        </p:nvSpPr>
        <p:spPr>
          <a:xfrm>
            <a:off x="0" y="155448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91"/>
          <p:cNvSpPr/>
          <p:nvPr/>
        </p:nvSpPr>
        <p:spPr>
          <a:xfrm>
            <a:off x="0" y="16002000"/>
            <a:ext cx="25450200" cy="50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92"/>
          <p:cNvSpPr/>
          <p:nvPr/>
        </p:nvSpPr>
        <p:spPr>
          <a:xfrm>
            <a:off x="0" y="164592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93"/>
          <p:cNvSpPr/>
          <p:nvPr/>
        </p:nvSpPr>
        <p:spPr>
          <a:xfrm>
            <a:off x="0" y="169164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94"/>
          <p:cNvSpPr/>
          <p:nvPr/>
        </p:nvSpPr>
        <p:spPr>
          <a:xfrm>
            <a:off x="0" y="173736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95"/>
          <p:cNvSpPr/>
          <p:nvPr/>
        </p:nvSpPr>
        <p:spPr>
          <a:xfrm>
            <a:off x="0" y="178308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96"/>
          <p:cNvSpPr/>
          <p:nvPr/>
        </p:nvSpPr>
        <p:spPr>
          <a:xfrm>
            <a:off x="0" y="18288000"/>
            <a:ext cx="25450200" cy="50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97"/>
          <p:cNvSpPr/>
          <p:nvPr/>
        </p:nvSpPr>
        <p:spPr>
          <a:xfrm>
            <a:off x="0" y="187452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98"/>
          <p:cNvSpPr/>
          <p:nvPr/>
        </p:nvSpPr>
        <p:spPr>
          <a:xfrm>
            <a:off x="0" y="19202400"/>
            <a:ext cx="25450200" cy="50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9240" bIns="-3924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99"/>
          <p:cNvSpPr/>
          <p:nvPr/>
        </p:nvSpPr>
        <p:spPr>
          <a:xfrm>
            <a:off x="0" y="196596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100"/>
          <p:cNvSpPr/>
          <p:nvPr/>
        </p:nvSpPr>
        <p:spPr>
          <a:xfrm>
            <a:off x="0" y="201168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01"/>
          <p:cNvSpPr/>
          <p:nvPr/>
        </p:nvSpPr>
        <p:spPr>
          <a:xfrm>
            <a:off x="0" y="20574000"/>
            <a:ext cx="25450200" cy="5040"/>
          </a:xfrm>
          <a:prstGeom prst="rect">
            <a:avLst/>
          </a:prstGeom>
          <a:solidFill>
            <a:srgbClr val="ddd7c7">
              <a:alpha val="55000"/>
            </a:srgbClr>
          </a:solidFill>
          <a:ln w="12700">
            <a:solidFill>
              <a:srgbClr val="ddd7c7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102"/>
          <p:cNvSpPr/>
          <p:nvPr/>
        </p:nvSpPr>
        <p:spPr>
          <a:xfrm>
            <a:off x="0" y="210312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03"/>
          <p:cNvSpPr/>
          <p:nvPr/>
        </p:nvSpPr>
        <p:spPr>
          <a:xfrm>
            <a:off x="0" y="214884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104"/>
          <p:cNvSpPr/>
          <p:nvPr/>
        </p:nvSpPr>
        <p:spPr>
          <a:xfrm>
            <a:off x="0" y="219456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105"/>
          <p:cNvSpPr/>
          <p:nvPr/>
        </p:nvSpPr>
        <p:spPr>
          <a:xfrm>
            <a:off x="0" y="224028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06"/>
          <p:cNvSpPr/>
          <p:nvPr/>
        </p:nvSpPr>
        <p:spPr>
          <a:xfrm>
            <a:off x="0" y="22860000"/>
            <a:ext cx="25450200" cy="50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107"/>
          <p:cNvSpPr/>
          <p:nvPr/>
        </p:nvSpPr>
        <p:spPr>
          <a:xfrm>
            <a:off x="0" y="233172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108"/>
          <p:cNvSpPr/>
          <p:nvPr/>
        </p:nvSpPr>
        <p:spPr>
          <a:xfrm>
            <a:off x="0" y="237744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109"/>
          <p:cNvSpPr/>
          <p:nvPr/>
        </p:nvSpPr>
        <p:spPr>
          <a:xfrm>
            <a:off x="0" y="24231600"/>
            <a:ext cx="25450200" cy="50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9240" bIns="-3924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110"/>
          <p:cNvSpPr/>
          <p:nvPr/>
        </p:nvSpPr>
        <p:spPr>
          <a:xfrm>
            <a:off x="0" y="246888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11"/>
          <p:cNvSpPr/>
          <p:nvPr/>
        </p:nvSpPr>
        <p:spPr>
          <a:xfrm>
            <a:off x="0" y="25146000"/>
            <a:ext cx="25450200" cy="50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112"/>
          <p:cNvSpPr/>
          <p:nvPr/>
        </p:nvSpPr>
        <p:spPr>
          <a:xfrm>
            <a:off x="0" y="256032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13"/>
          <p:cNvSpPr/>
          <p:nvPr/>
        </p:nvSpPr>
        <p:spPr>
          <a:xfrm>
            <a:off x="0" y="260604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14"/>
          <p:cNvSpPr/>
          <p:nvPr/>
        </p:nvSpPr>
        <p:spPr>
          <a:xfrm>
            <a:off x="0" y="265176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15"/>
          <p:cNvSpPr/>
          <p:nvPr/>
        </p:nvSpPr>
        <p:spPr>
          <a:xfrm>
            <a:off x="0" y="269748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16"/>
          <p:cNvSpPr/>
          <p:nvPr/>
        </p:nvSpPr>
        <p:spPr>
          <a:xfrm>
            <a:off x="0" y="27432000"/>
            <a:ext cx="25450200" cy="50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17"/>
          <p:cNvSpPr/>
          <p:nvPr/>
        </p:nvSpPr>
        <p:spPr>
          <a:xfrm>
            <a:off x="0" y="278892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18"/>
          <p:cNvSpPr/>
          <p:nvPr/>
        </p:nvSpPr>
        <p:spPr>
          <a:xfrm>
            <a:off x="0" y="283464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19"/>
          <p:cNvSpPr/>
          <p:nvPr/>
        </p:nvSpPr>
        <p:spPr>
          <a:xfrm>
            <a:off x="0" y="288036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20"/>
          <p:cNvSpPr/>
          <p:nvPr/>
        </p:nvSpPr>
        <p:spPr>
          <a:xfrm>
            <a:off x="0" y="292608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21"/>
          <p:cNvSpPr/>
          <p:nvPr/>
        </p:nvSpPr>
        <p:spPr>
          <a:xfrm>
            <a:off x="0" y="297180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22"/>
          <p:cNvSpPr/>
          <p:nvPr/>
        </p:nvSpPr>
        <p:spPr>
          <a:xfrm>
            <a:off x="0" y="301752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23"/>
          <p:cNvSpPr/>
          <p:nvPr/>
        </p:nvSpPr>
        <p:spPr>
          <a:xfrm>
            <a:off x="0" y="306324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24"/>
          <p:cNvSpPr/>
          <p:nvPr/>
        </p:nvSpPr>
        <p:spPr>
          <a:xfrm>
            <a:off x="0" y="310896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25"/>
          <p:cNvSpPr/>
          <p:nvPr/>
        </p:nvSpPr>
        <p:spPr>
          <a:xfrm>
            <a:off x="0" y="315468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26"/>
          <p:cNvSpPr/>
          <p:nvPr/>
        </p:nvSpPr>
        <p:spPr>
          <a:xfrm>
            <a:off x="0" y="32004000"/>
            <a:ext cx="25450200" cy="5040"/>
          </a:xfrm>
          <a:prstGeom prst="rect">
            <a:avLst/>
          </a:prstGeom>
          <a:solidFill>
            <a:srgbClr val="ddd7c7">
              <a:alpha val="95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27"/>
          <p:cNvSpPr/>
          <p:nvPr/>
        </p:nvSpPr>
        <p:spPr>
          <a:xfrm>
            <a:off x="0" y="324612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28"/>
          <p:cNvSpPr/>
          <p:nvPr/>
        </p:nvSpPr>
        <p:spPr>
          <a:xfrm>
            <a:off x="0" y="329184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29"/>
          <p:cNvSpPr/>
          <p:nvPr/>
        </p:nvSpPr>
        <p:spPr>
          <a:xfrm>
            <a:off x="0" y="333756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30"/>
          <p:cNvSpPr/>
          <p:nvPr/>
        </p:nvSpPr>
        <p:spPr>
          <a:xfrm>
            <a:off x="0" y="338328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31"/>
          <p:cNvSpPr/>
          <p:nvPr/>
        </p:nvSpPr>
        <p:spPr>
          <a:xfrm>
            <a:off x="0" y="34290000"/>
            <a:ext cx="25450200" cy="5040"/>
          </a:xfrm>
          <a:prstGeom prst="rect">
            <a:avLst/>
          </a:prstGeom>
          <a:solidFill>
            <a:srgbClr val="ddd7c7"/>
          </a:solidFill>
          <a:ln w="12700">
            <a:solidFill>
              <a:srgbClr val="ddd7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32"/>
          <p:cNvSpPr/>
          <p:nvPr/>
        </p:nvSpPr>
        <p:spPr>
          <a:xfrm>
            <a:off x="0" y="347472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33"/>
          <p:cNvSpPr/>
          <p:nvPr/>
        </p:nvSpPr>
        <p:spPr>
          <a:xfrm>
            <a:off x="0" y="352044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34"/>
          <p:cNvSpPr/>
          <p:nvPr/>
        </p:nvSpPr>
        <p:spPr>
          <a:xfrm>
            <a:off x="0" y="35661600"/>
            <a:ext cx="25450200" cy="50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35"/>
          <p:cNvSpPr/>
          <p:nvPr/>
        </p:nvSpPr>
        <p:spPr>
          <a:xfrm>
            <a:off x="0" y="0"/>
            <a:ext cx="11520" cy="35997840"/>
          </a:xfrm>
          <a:prstGeom prst="rect">
            <a:avLst/>
          </a:prstGeom>
          <a:solidFill>
            <a:srgbClr val="cfc8b5"/>
          </a:solidFill>
          <a:ln w="12700">
            <a:solidFill>
              <a:srgbClr val="cfc8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46"/>
          <p:cNvSpPr/>
          <p:nvPr/>
        </p:nvSpPr>
        <p:spPr>
          <a:xfrm>
            <a:off x="25146000" y="0"/>
            <a:ext cx="11520" cy="3599784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147"/>
          <p:cNvSpPr/>
          <p:nvPr/>
        </p:nvSpPr>
        <p:spPr>
          <a:xfrm>
            <a:off x="0" y="0"/>
            <a:ext cx="25450200" cy="11520"/>
          </a:xfrm>
          <a:prstGeom prst="rect">
            <a:avLst/>
          </a:prstGeom>
          <a:solidFill>
            <a:srgbClr val="cfc8b5"/>
          </a:solidFill>
          <a:ln w="12700">
            <a:solidFill>
              <a:srgbClr val="cfc8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48"/>
          <p:cNvSpPr/>
          <p:nvPr/>
        </p:nvSpPr>
        <p:spPr>
          <a:xfrm>
            <a:off x="0" y="2286000"/>
            <a:ext cx="25450200" cy="1152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149"/>
          <p:cNvSpPr/>
          <p:nvPr/>
        </p:nvSpPr>
        <p:spPr>
          <a:xfrm>
            <a:off x="0" y="4572000"/>
            <a:ext cx="25450200" cy="1152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50"/>
          <p:cNvSpPr/>
          <p:nvPr/>
        </p:nvSpPr>
        <p:spPr>
          <a:xfrm>
            <a:off x="0" y="6858000"/>
            <a:ext cx="25450200" cy="1152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51"/>
          <p:cNvSpPr/>
          <p:nvPr/>
        </p:nvSpPr>
        <p:spPr>
          <a:xfrm>
            <a:off x="0" y="9144000"/>
            <a:ext cx="25450200" cy="1152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52"/>
          <p:cNvSpPr/>
          <p:nvPr/>
        </p:nvSpPr>
        <p:spPr>
          <a:xfrm>
            <a:off x="0" y="11430000"/>
            <a:ext cx="25450200" cy="1152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153"/>
          <p:cNvSpPr/>
          <p:nvPr/>
        </p:nvSpPr>
        <p:spPr>
          <a:xfrm>
            <a:off x="0" y="13716000"/>
            <a:ext cx="25450200" cy="1152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154"/>
          <p:cNvSpPr/>
          <p:nvPr/>
        </p:nvSpPr>
        <p:spPr>
          <a:xfrm>
            <a:off x="0" y="16002000"/>
            <a:ext cx="25450200" cy="11520"/>
          </a:xfrm>
          <a:prstGeom prst="rect">
            <a:avLst/>
          </a:prstGeom>
          <a:solidFill>
            <a:srgbClr val="ddd7c7">
              <a:alpha val="50000"/>
            </a:srgbClr>
          </a:solidFill>
          <a:ln w="127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62"/>
          <p:cNvSpPr/>
          <p:nvPr/>
        </p:nvSpPr>
        <p:spPr>
          <a:xfrm>
            <a:off x="0" y="34290000"/>
            <a:ext cx="25450200" cy="11520"/>
          </a:xfrm>
          <a:prstGeom prst="rect">
            <a:avLst/>
          </a:prstGeom>
          <a:solidFill>
            <a:srgbClr val="ddd7c7">
              <a:alpha val="50000"/>
            </a:srgbClr>
          </a:solidFill>
          <a:ln w="12600">
            <a:solidFill>
              <a:srgbClr val="ddd7c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63"/>
          <p:cNvSpPr/>
          <p:nvPr/>
        </p:nvSpPr>
        <p:spPr>
          <a:xfrm>
            <a:off x="640080" y="460080"/>
            <a:ext cx="24170040" cy="3966480"/>
          </a:xfrm>
          <a:prstGeom prst="rect">
            <a:avLst/>
          </a:prstGeom>
          <a:solidFill>
            <a:srgbClr val="f4f1e8"/>
          </a:solidFill>
          <a:ln w="25400">
            <a:solidFill>
              <a:srgbClr val="1b2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64"/>
          <p:cNvSpPr/>
          <p:nvPr/>
        </p:nvSpPr>
        <p:spPr>
          <a:xfrm>
            <a:off x="731520" y="551520"/>
            <a:ext cx="23987160" cy="3767040"/>
          </a:xfrm>
          <a:prstGeom prst="rect">
            <a:avLst/>
          </a:prstGeom>
          <a:solidFill>
            <a:srgbClr val="f4f1e8"/>
          </a:solidFill>
          <a:ln w="12700">
            <a:solidFill>
              <a:srgbClr val="1b2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65"/>
          <p:cNvSpPr/>
          <p:nvPr/>
        </p:nvSpPr>
        <p:spPr>
          <a:xfrm>
            <a:off x="496080" y="724680"/>
            <a:ext cx="241700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483" strike="noStrike">
                <a:solidFill>
                  <a:srgbClr val="c8312e"/>
                </a:solidFill>
                <a:latin typeface="Calibri"/>
                <a:ea typeface="Calibri"/>
              </a:rPr>
              <a:t>ELE 401 / 402  ·  GRADUATION PROJECT  ·  2025–2026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66"/>
          <p:cNvSpPr/>
          <p:nvPr/>
        </p:nvSpPr>
        <p:spPr>
          <a:xfrm>
            <a:off x="3122640" y="1273320"/>
            <a:ext cx="18866520" cy="15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400" spc="-100" strike="noStrike">
                <a:solidFill>
                  <a:srgbClr val="1b2a52"/>
                </a:solidFill>
                <a:latin typeface="Arial Black"/>
                <a:ea typeface="Arial Black"/>
              </a:rPr>
              <a:t>5-LEVEL CASCADED H-BRIDGE</a:t>
            </a:r>
            <a:endParaRPr b="0" lang="en-GB" sz="6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00" strike="noStrike">
                <a:solidFill>
                  <a:srgbClr val="c8312e"/>
                </a:solidFill>
                <a:latin typeface="Arial Black"/>
                <a:ea typeface="Arial Black"/>
              </a:rPr>
              <a:t>MULTILEVEL INVERTER</a:t>
            </a:r>
            <a:endParaRPr b="0" lang="en-GB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67"/>
          <p:cNvSpPr/>
          <p:nvPr/>
        </p:nvSpPr>
        <p:spPr>
          <a:xfrm>
            <a:off x="3266640" y="2863800"/>
            <a:ext cx="188665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5b6378"/>
                </a:solidFill>
                <a:latin typeface="Calibri"/>
                <a:ea typeface="Calibri"/>
              </a:rPr>
              <a:t>with PWM-based control &amp; isolated multi-channel sensing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68"/>
          <p:cNvSpPr/>
          <p:nvPr/>
        </p:nvSpPr>
        <p:spPr>
          <a:xfrm>
            <a:off x="914400" y="3312000"/>
            <a:ext cx="23621400" cy="16200"/>
          </a:xfrm>
          <a:prstGeom prst="rect">
            <a:avLst/>
          </a:prstGeom>
          <a:solidFill>
            <a:srgbClr val="1b2a52"/>
          </a:solidFill>
          <a:ln w="12700">
            <a:solidFill>
              <a:srgbClr val="1b2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69"/>
          <p:cNvSpPr/>
          <p:nvPr/>
        </p:nvSpPr>
        <p:spPr>
          <a:xfrm>
            <a:off x="568080" y="3376440"/>
            <a:ext cx="24170040" cy="72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3200" spc="-1" strike="noStrike">
                <a:solidFill>
                  <a:srgbClr val="1b2a52"/>
                </a:solidFill>
                <a:latin typeface="Calibri"/>
                <a:ea typeface="Calibri"/>
              </a:rPr>
              <a:t>Furkan Emir AKSEL  ·  Ahmet KOÇAK  ·  Mücahit AYDIN  ·  Faruk Gökhan ABAY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i="1" lang="en-US" sz="2600" spc="-1" strike="noStrike">
                <a:solidFill>
                  <a:srgbClr val="5b6378"/>
                </a:solidFill>
                <a:latin typeface="Calibri"/>
                <a:ea typeface="Calibri"/>
              </a:rPr>
              <a:t>   </a:t>
            </a:r>
            <a:r>
              <a:rPr b="0" i="1" lang="en-US" sz="2600" spc="-1" strike="noStrike">
                <a:solidFill>
                  <a:srgbClr val="5b6378"/>
                </a:solidFill>
                <a:latin typeface="Calibri"/>
                <a:ea typeface="Calibri"/>
              </a:rPr>
              <a:t>Supervisor: Assoc. Prof. Dr. Rasim DOĞAN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70"/>
          <p:cNvSpPr/>
          <p:nvPr/>
        </p:nvSpPr>
        <p:spPr>
          <a:xfrm>
            <a:off x="640080" y="4572000"/>
            <a:ext cx="24199560" cy="5867640"/>
          </a:xfrm>
          <a:prstGeom prst="rect">
            <a:avLst/>
          </a:prstGeom>
          <a:solidFill>
            <a:srgbClr val="22262a"/>
          </a:solidFill>
          <a:ln w="25400">
            <a:solidFill>
              <a:srgbClr val="181a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171"/>
          <p:cNvSpPr/>
          <p:nvPr/>
        </p:nvSpPr>
        <p:spPr>
          <a:xfrm>
            <a:off x="720000" y="4716000"/>
            <a:ext cx="23952960" cy="5615640"/>
          </a:xfrm>
          <a:prstGeom prst="rect">
            <a:avLst/>
          </a:prstGeom>
          <a:solidFill>
            <a:srgbClr val="101418"/>
          </a:solidFill>
          <a:ln w="6350">
            <a:solidFill>
              <a:srgbClr val="9ba1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172"/>
          <p:cNvSpPr/>
          <p:nvPr/>
        </p:nvSpPr>
        <p:spPr>
          <a:xfrm>
            <a:off x="868680" y="4928760"/>
            <a:ext cx="272160" cy="16200"/>
          </a:xfrm>
          <a:prstGeom prst="rect">
            <a:avLst/>
          </a:prstGeom>
          <a:solidFill>
            <a:srgbClr val="9ba1a8"/>
          </a:solidFill>
          <a:ln w="12700">
            <a:solidFill>
              <a:srgbClr val="9ba1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73"/>
          <p:cNvSpPr/>
          <p:nvPr/>
        </p:nvSpPr>
        <p:spPr>
          <a:xfrm>
            <a:off x="996840" y="4800600"/>
            <a:ext cx="16200" cy="272160"/>
          </a:xfrm>
          <a:prstGeom prst="rect">
            <a:avLst/>
          </a:prstGeom>
          <a:solidFill>
            <a:srgbClr val="9ba1a8"/>
          </a:solidFill>
          <a:ln w="12700">
            <a:solidFill>
              <a:srgbClr val="9ba1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74"/>
          <p:cNvSpPr/>
          <p:nvPr/>
        </p:nvSpPr>
        <p:spPr>
          <a:xfrm>
            <a:off x="24309360" y="5144760"/>
            <a:ext cx="272160" cy="16200"/>
          </a:xfrm>
          <a:prstGeom prst="rect">
            <a:avLst/>
          </a:prstGeom>
          <a:solidFill>
            <a:srgbClr val="9ba1a8"/>
          </a:solidFill>
          <a:ln w="12700">
            <a:solidFill>
              <a:srgbClr val="9ba1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75"/>
          <p:cNvSpPr/>
          <p:nvPr/>
        </p:nvSpPr>
        <p:spPr>
          <a:xfrm>
            <a:off x="24437520" y="5016600"/>
            <a:ext cx="16200" cy="272160"/>
          </a:xfrm>
          <a:prstGeom prst="rect">
            <a:avLst/>
          </a:prstGeom>
          <a:solidFill>
            <a:srgbClr val="9ba1a8"/>
          </a:solidFill>
          <a:ln w="12700">
            <a:solidFill>
              <a:srgbClr val="9ba1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176"/>
          <p:cNvSpPr/>
          <p:nvPr/>
        </p:nvSpPr>
        <p:spPr>
          <a:xfrm>
            <a:off x="868680" y="10054440"/>
            <a:ext cx="272160" cy="16200"/>
          </a:xfrm>
          <a:prstGeom prst="rect">
            <a:avLst/>
          </a:prstGeom>
          <a:solidFill>
            <a:srgbClr val="9ba1a8"/>
          </a:solidFill>
          <a:ln w="12700">
            <a:solidFill>
              <a:srgbClr val="9ba1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177"/>
          <p:cNvSpPr/>
          <p:nvPr/>
        </p:nvSpPr>
        <p:spPr>
          <a:xfrm>
            <a:off x="996840" y="9926280"/>
            <a:ext cx="16200" cy="272160"/>
          </a:xfrm>
          <a:prstGeom prst="rect">
            <a:avLst/>
          </a:prstGeom>
          <a:solidFill>
            <a:srgbClr val="9ba1a8"/>
          </a:solidFill>
          <a:ln w="12700">
            <a:solidFill>
              <a:srgbClr val="9ba1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78"/>
          <p:cNvSpPr/>
          <p:nvPr/>
        </p:nvSpPr>
        <p:spPr>
          <a:xfrm>
            <a:off x="24309360" y="10054440"/>
            <a:ext cx="272160" cy="16200"/>
          </a:xfrm>
          <a:prstGeom prst="rect">
            <a:avLst/>
          </a:prstGeom>
          <a:solidFill>
            <a:srgbClr val="9ba1a8"/>
          </a:solidFill>
          <a:ln w="12700">
            <a:solidFill>
              <a:srgbClr val="9ba1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79"/>
          <p:cNvSpPr/>
          <p:nvPr/>
        </p:nvSpPr>
        <p:spPr>
          <a:xfrm>
            <a:off x="24437520" y="9926280"/>
            <a:ext cx="16200" cy="272160"/>
          </a:xfrm>
          <a:prstGeom prst="rect">
            <a:avLst/>
          </a:prstGeom>
          <a:solidFill>
            <a:srgbClr val="9ba1a8"/>
          </a:solidFill>
          <a:ln w="12700">
            <a:solidFill>
              <a:srgbClr val="9ba1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80"/>
          <p:cNvSpPr/>
          <p:nvPr/>
        </p:nvSpPr>
        <p:spPr>
          <a:xfrm>
            <a:off x="15626880" y="5337000"/>
            <a:ext cx="89089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783" strike="noStrike">
                <a:solidFill>
                  <a:srgbClr val="7aa89e"/>
                </a:solidFill>
                <a:latin typeface="Calibri"/>
                <a:ea typeface="Calibri"/>
              </a:rPr>
              <a:t>THE  HARDWARE</a:t>
            </a:r>
            <a:endParaRPr b="0" lang="en-GB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81"/>
          <p:cNvSpPr/>
          <p:nvPr/>
        </p:nvSpPr>
        <p:spPr>
          <a:xfrm>
            <a:off x="15626880" y="5980680"/>
            <a:ext cx="8908920" cy="15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4f1e8"/>
                </a:solidFill>
                <a:latin typeface="Arial Black"/>
                <a:ea typeface="Arial Black"/>
              </a:rPr>
              <a:t>Two cascaded</a:t>
            </a:r>
            <a:endParaRPr b="0" lang="en-GB" sz="3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4f1e8"/>
                </a:solidFill>
                <a:latin typeface="Arial Black"/>
                <a:ea typeface="Arial Black"/>
              </a:rPr>
              <a:t>Single-bridge modules.</a:t>
            </a:r>
            <a:endParaRPr b="0" lang="en-GB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82"/>
          <p:cNvSpPr/>
          <p:nvPr/>
        </p:nvSpPr>
        <p:spPr>
          <a:xfrm>
            <a:off x="15662880" y="7463160"/>
            <a:ext cx="43621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7aa89e"/>
                </a:solidFill>
                <a:latin typeface="Arial Black"/>
                <a:ea typeface="Arial Black"/>
              </a:rPr>
              <a:t>8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83"/>
          <p:cNvSpPr/>
          <p:nvPr/>
        </p:nvSpPr>
        <p:spPr>
          <a:xfrm>
            <a:off x="16058880" y="7455240"/>
            <a:ext cx="4362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284" strike="noStrike">
                <a:solidFill>
                  <a:srgbClr val="9ba1a8"/>
                </a:solidFill>
                <a:latin typeface="Calibri"/>
                <a:ea typeface="Calibri"/>
              </a:rPr>
              <a:t>MOSFETs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84"/>
          <p:cNvSpPr/>
          <p:nvPr/>
        </p:nvSpPr>
        <p:spPr>
          <a:xfrm>
            <a:off x="19849680" y="7427160"/>
            <a:ext cx="43621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d4a24a"/>
                </a:solidFill>
                <a:latin typeface="Arial Black"/>
                <a:ea typeface="Arial Black"/>
              </a:rPr>
              <a:t>±100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85"/>
          <p:cNvSpPr/>
          <p:nvPr/>
        </p:nvSpPr>
        <p:spPr>
          <a:xfrm>
            <a:off x="21037680" y="7419240"/>
            <a:ext cx="2736360" cy="57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284" strike="noStrike">
                <a:solidFill>
                  <a:srgbClr val="9ba1a8"/>
                </a:solidFill>
                <a:latin typeface="Calibri"/>
                <a:ea typeface="Calibri"/>
              </a:rPr>
              <a:t>V peak AC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86"/>
          <p:cNvSpPr/>
          <p:nvPr/>
        </p:nvSpPr>
        <p:spPr>
          <a:xfrm>
            <a:off x="15626880" y="8217000"/>
            <a:ext cx="43621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7aa89e"/>
                </a:solidFill>
                <a:latin typeface="Arial Black"/>
                <a:ea typeface="Arial Black"/>
              </a:rPr>
              <a:t>~700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87"/>
          <p:cNvSpPr/>
          <p:nvPr/>
        </p:nvSpPr>
        <p:spPr>
          <a:xfrm>
            <a:off x="16850880" y="8173080"/>
            <a:ext cx="4362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284" strike="noStrike">
                <a:solidFill>
                  <a:srgbClr val="9ba1a8"/>
                </a:solidFill>
                <a:latin typeface="Calibri"/>
                <a:ea typeface="Calibri"/>
              </a:rPr>
              <a:t>W output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88"/>
          <p:cNvSpPr/>
          <p:nvPr/>
        </p:nvSpPr>
        <p:spPr>
          <a:xfrm>
            <a:off x="19849680" y="8145000"/>
            <a:ext cx="436212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d4a24a"/>
                </a:solidFill>
                <a:latin typeface="Arial Black"/>
                <a:ea typeface="Arial Black"/>
              </a:rPr>
              <a:t>&lt; 5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89"/>
          <p:cNvSpPr/>
          <p:nvPr/>
        </p:nvSpPr>
        <p:spPr>
          <a:xfrm>
            <a:off x="20713680" y="8137080"/>
            <a:ext cx="436212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284" strike="noStrike">
                <a:solidFill>
                  <a:srgbClr val="9ba1a8"/>
                </a:solidFill>
                <a:latin typeface="Calibri"/>
                <a:ea typeface="Calibri"/>
              </a:rPr>
              <a:t>% Measured THD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90"/>
          <p:cNvSpPr/>
          <p:nvPr/>
        </p:nvSpPr>
        <p:spPr>
          <a:xfrm>
            <a:off x="15662880" y="9880560"/>
            <a:ext cx="3996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384" strike="noStrike">
                <a:solidFill>
                  <a:srgbClr val="9ba1a8"/>
                </a:solidFill>
                <a:latin typeface="Calibri"/>
                <a:ea typeface="Calibri"/>
              </a:rPr>
              <a:t>IMAGE 01 ·  HARDWARE OVERVIEW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91"/>
          <p:cNvSpPr/>
          <p:nvPr/>
        </p:nvSpPr>
        <p:spPr>
          <a:xfrm>
            <a:off x="1097280" y="9144000"/>
            <a:ext cx="14017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92"/>
          <p:cNvSpPr/>
          <p:nvPr/>
        </p:nvSpPr>
        <p:spPr>
          <a:xfrm>
            <a:off x="640080" y="10620000"/>
            <a:ext cx="24170040" cy="8782920"/>
          </a:xfrm>
          <a:prstGeom prst="rect">
            <a:avLst/>
          </a:prstGeom>
          <a:solidFill>
            <a:srgbClr val="f4f1e8"/>
          </a:solidFill>
          <a:ln w="19050">
            <a:solidFill>
              <a:srgbClr val="1b2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93"/>
          <p:cNvSpPr/>
          <p:nvPr/>
        </p:nvSpPr>
        <p:spPr>
          <a:xfrm>
            <a:off x="806400" y="10800000"/>
            <a:ext cx="23804280" cy="8448120"/>
          </a:xfrm>
          <a:prstGeom prst="rect">
            <a:avLst/>
          </a:prstGeom>
          <a:solidFill>
            <a:srgbClr val="f4f1e8"/>
          </a:solidFill>
          <a:ln w="6350">
            <a:solidFill>
              <a:srgbClr val="1b2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94"/>
          <p:cNvSpPr/>
          <p:nvPr/>
        </p:nvSpPr>
        <p:spPr>
          <a:xfrm>
            <a:off x="914400" y="10925280"/>
            <a:ext cx="199080" cy="775080"/>
          </a:xfrm>
          <a:prstGeom prst="rect">
            <a:avLst/>
          </a:prstGeom>
          <a:solidFill>
            <a:srgbClr val="5e7a8f"/>
          </a:solidFill>
          <a:ln w="12700">
            <a:solidFill>
              <a:srgbClr val="5e7a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195"/>
          <p:cNvSpPr/>
          <p:nvPr/>
        </p:nvSpPr>
        <p:spPr>
          <a:xfrm>
            <a:off x="1188720" y="10807560"/>
            <a:ext cx="136944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483" strike="noStrike">
                <a:solidFill>
                  <a:srgbClr val="5e7a8f"/>
                </a:solidFill>
                <a:latin typeface="Calibri"/>
                <a:ea typeface="Calibri"/>
              </a:rPr>
              <a:t>02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96"/>
          <p:cNvSpPr/>
          <p:nvPr/>
        </p:nvSpPr>
        <p:spPr>
          <a:xfrm>
            <a:off x="1188720" y="11199600"/>
            <a:ext cx="75031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83" strike="noStrike">
                <a:solidFill>
                  <a:srgbClr val="1b2a52"/>
                </a:solidFill>
                <a:latin typeface="Arial Black"/>
                <a:ea typeface="Arial Black"/>
              </a:rPr>
              <a:t>SYSTEM ARCHITECTURE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97"/>
          <p:cNvSpPr/>
          <p:nvPr/>
        </p:nvSpPr>
        <p:spPr>
          <a:xfrm>
            <a:off x="18868680" y="10791000"/>
            <a:ext cx="5667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384" strike="noStrike">
                <a:solidFill>
                  <a:srgbClr val="5b6378"/>
                </a:solidFill>
                <a:latin typeface="Calibri"/>
                <a:ea typeface="Calibri"/>
              </a:rPr>
              <a:t>IMAGE 02 · TOPOLOGY OVERVIEW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9" name="Image 3" descr="/home/claude/poster/block_diagram_blueprint.png"/>
          <p:cNvPicPr/>
          <p:nvPr/>
        </p:nvPicPr>
        <p:blipFill>
          <a:blip r:embed="rId1"/>
          <a:stretch/>
        </p:blipFill>
        <p:spPr>
          <a:xfrm>
            <a:off x="1371600" y="11767680"/>
            <a:ext cx="22748040" cy="7383240"/>
          </a:xfrm>
          <a:prstGeom prst="rect">
            <a:avLst/>
          </a:prstGeom>
          <a:ln w="0">
            <a:noFill/>
          </a:ln>
        </p:spPr>
      </p:pic>
      <p:sp>
        <p:nvSpPr>
          <p:cNvPr id="190" name="Text 198"/>
          <p:cNvSpPr/>
          <p:nvPr/>
        </p:nvSpPr>
        <p:spPr>
          <a:xfrm>
            <a:off x="1097280" y="17283240"/>
            <a:ext cx="232556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99"/>
          <p:cNvSpPr/>
          <p:nvPr/>
        </p:nvSpPr>
        <p:spPr>
          <a:xfrm>
            <a:off x="640080" y="19611360"/>
            <a:ext cx="226440" cy="775080"/>
          </a:xfrm>
          <a:prstGeom prst="rect">
            <a:avLst/>
          </a:prstGeom>
          <a:solidFill>
            <a:srgbClr val="c8312e"/>
          </a:solidFill>
          <a:ln w="12700">
            <a:solidFill>
              <a:srgbClr val="c831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200"/>
          <p:cNvSpPr/>
          <p:nvPr/>
        </p:nvSpPr>
        <p:spPr>
          <a:xfrm>
            <a:off x="1005840" y="19493640"/>
            <a:ext cx="1643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483" strike="noStrike">
                <a:solidFill>
                  <a:srgbClr val="c8312e"/>
                </a:solidFill>
                <a:latin typeface="Calibri"/>
                <a:ea typeface="Calibri"/>
              </a:rPr>
              <a:t>01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01"/>
          <p:cNvSpPr/>
          <p:nvPr/>
        </p:nvSpPr>
        <p:spPr>
          <a:xfrm>
            <a:off x="1005840" y="19885680"/>
            <a:ext cx="74455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83" strike="noStrike">
                <a:solidFill>
                  <a:srgbClr val="1b2a52"/>
                </a:solidFill>
                <a:latin typeface="Arial Black"/>
                <a:ea typeface="Arial Black"/>
              </a:rPr>
              <a:t>INTRODUCTION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02"/>
          <p:cNvSpPr/>
          <p:nvPr/>
        </p:nvSpPr>
        <p:spPr>
          <a:xfrm>
            <a:off x="640080" y="20441160"/>
            <a:ext cx="7811280" cy="20880"/>
          </a:xfrm>
          <a:prstGeom prst="rect">
            <a:avLst/>
          </a:prstGeom>
          <a:solidFill>
            <a:srgbClr val="c8312e"/>
          </a:solidFill>
          <a:ln w="12700">
            <a:solidFill>
              <a:srgbClr val="c831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203"/>
          <p:cNvSpPr/>
          <p:nvPr/>
        </p:nvSpPr>
        <p:spPr>
          <a:xfrm>
            <a:off x="640080" y="20662920"/>
            <a:ext cx="7811280" cy="57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pc="-1" strike="noStrike">
                <a:solidFill>
                  <a:srgbClr val="c9211e"/>
                </a:solidFill>
                <a:latin typeface="Calibri"/>
                <a:ea typeface="Calibri"/>
              </a:rPr>
              <a:t>This project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presents a single-phase 5-level Cascaded H-Bridge multilevel inverter designed to deliver roughly 700 W of clean AC. Two cascaded H-bridges, each fed from an independent 50 V isolated DC source, sum their outputs into a stepped sinusoid that approaches ±100 V peak.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Compared to a conventional 2-level inverter, the multilevel topology produces a smoother voltage waveform with substantially lower harmonic distortion. This reduces the size of the output filter, lowers electromagnetic interference and matches the rules naturally with renewable sources.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04"/>
          <p:cNvSpPr/>
          <p:nvPr/>
        </p:nvSpPr>
        <p:spPr>
          <a:xfrm>
            <a:off x="8692200" y="19629720"/>
            <a:ext cx="226440" cy="775080"/>
          </a:xfrm>
          <a:prstGeom prst="rect">
            <a:avLst/>
          </a:prstGeom>
          <a:solidFill>
            <a:srgbClr val="579d1c"/>
          </a:solidFill>
          <a:ln w="12700">
            <a:solidFill>
              <a:srgbClr val="579d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205"/>
          <p:cNvSpPr/>
          <p:nvPr/>
        </p:nvSpPr>
        <p:spPr>
          <a:xfrm>
            <a:off x="9057960" y="19512000"/>
            <a:ext cx="1643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483" strike="noStrike">
                <a:solidFill>
                  <a:srgbClr val="579d1c"/>
                </a:solidFill>
                <a:latin typeface="Calibri"/>
                <a:ea typeface="Calibri"/>
              </a:rPr>
              <a:t>04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206"/>
          <p:cNvSpPr/>
          <p:nvPr/>
        </p:nvSpPr>
        <p:spPr>
          <a:xfrm>
            <a:off x="9057960" y="19904040"/>
            <a:ext cx="74455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83" strike="noStrike">
                <a:solidFill>
                  <a:srgbClr val="1b2a52"/>
                </a:solidFill>
                <a:latin typeface="Arial Black"/>
                <a:ea typeface="Arial Black"/>
              </a:rPr>
              <a:t>PROTECTION SYSTEM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07"/>
          <p:cNvSpPr/>
          <p:nvPr/>
        </p:nvSpPr>
        <p:spPr>
          <a:xfrm>
            <a:off x="8692200" y="20459520"/>
            <a:ext cx="7811280" cy="20880"/>
          </a:xfrm>
          <a:prstGeom prst="rect">
            <a:avLst/>
          </a:prstGeom>
          <a:solidFill>
            <a:srgbClr val="579d1c"/>
          </a:solidFill>
          <a:ln w="12700">
            <a:solidFill>
              <a:srgbClr val="579d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208"/>
          <p:cNvSpPr/>
          <p:nvPr/>
        </p:nvSpPr>
        <p:spPr>
          <a:xfrm>
            <a:off x="8692200" y="20681280"/>
            <a:ext cx="7811280" cy="546480"/>
          </a:xfrm>
          <a:prstGeom prst="rect">
            <a:avLst/>
          </a:prstGeom>
          <a:solidFill>
            <a:srgbClr val="579d1c"/>
          </a:solidFill>
          <a:ln w="12700">
            <a:solidFill>
              <a:srgbClr val="579d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209"/>
          <p:cNvSpPr/>
          <p:nvPr/>
        </p:nvSpPr>
        <p:spPr>
          <a:xfrm>
            <a:off x="8765280" y="20681280"/>
            <a:ext cx="32065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185" strike="noStrike">
                <a:solidFill>
                  <a:srgbClr val="ffffff"/>
                </a:solidFill>
                <a:latin typeface="Calibri"/>
                <a:ea typeface="Calibri"/>
              </a:rPr>
              <a:t>Fault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210"/>
          <p:cNvSpPr/>
          <p:nvPr/>
        </p:nvSpPr>
        <p:spPr>
          <a:xfrm>
            <a:off x="12047040" y="20681280"/>
            <a:ext cx="2737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</a:pPr>
            <a:r>
              <a:rPr b="1" lang="en-US" sz="3200" spc="185" strike="noStrike">
                <a:solidFill>
                  <a:srgbClr val="ffffff"/>
                </a:solidFill>
                <a:latin typeface="Calibri"/>
                <a:ea typeface="Calibri"/>
              </a:rPr>
              <a:t>Detection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212"/>
          <p:cNvSpPr/>
          <p:nvPr/>
        </p:nvSpPr>
        <p:spPr>
          <a:xfrm>
            <a:off x="8765280" y="21229920"/>
            <a:ext cx="32065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579d1c"/>
                </a:solidFill>
                <a:latin typeface="Calibri"/>
                <a:ea typeface="Calibri"/>
              </a:rPr>
              <a:t>Short circuit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213"/>
          <p:cNvSpPr/>
          <p:nvPr/>
        </p:nvSpPr>
        <p:spPr>
          <a:xfrm>
            <a:off x="12047040" y="21229920"/>
            <a:ext cx="2737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1b2a52"/>
                </a:solidFill>
                <a:latin typeface="Calibri"/>
                <a:ea typeface="Calibri"/>
              </a:rPr>
              <a:t>15 A fuse blows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215"/>
          <p:cNvSpPr/>
          <p:nvPr/>
        </p:nvSpPr>
        <p:spPr>
          <a:xfrm>
            <a:off x="8692200" y="21778560"/>
            <a:ext cx="7811280" cy="546480"/>
          </a:xfrm>
          <a:prstGeom prst="rect">
            <a:avLst/>
          </a:prstGeom>
          <a:solidFill>
            <a:srgbClr val="ede9dc"/>
          </a:solidFill>
          <a:ln w="12700">
            <a:solidFill>
              <a:srgbClr val="ede9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n-US" sz="3200" spc="-1" strike="noStrike">
              <a:solidFill>
                <a:srgbClr val="579d1c"/>
              </a:solidFill>
              <a:latin typeface="Calibri"/>
              <a:ea typeface="Calibri"/>
            </a:endParaRPr>
          </a:p>
        </p:txBody>
      </p:sp>
      <p:sp>
        <p:nvSpPr>
          <p:cNvPr id="206" name="Text 216"/>
          <p:cNvSpPr/>
          <p:nvPr/>
        </p:nvSpPr>
        <p:spPr>
          <a:xfrm>
            <a:off x="8765280" y="21778560"/>
            <a:ext cx="32065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579d1c"/>
                </a:solidFill>
                <a:latin typeface="Calibri"/>
                <a:ea typeface="Calibri"/>
              </a:rPr>
              <a:t>Overcurrent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217"/>
          <p:cNvSpPr/>
          <p:nvPr/>
        </p:nvSpPr>
        <p:spPr>
          <a:xfrm>
            <a:off x="12047040" y="21778560"/>
            <a:ext cx="2737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1b2a52"/>
                </a:solidFill>
                <a:latin typeface="Calibri"/>
                <a:ea typeface="Calibri"/>
              </a:rPr>
              <a:t>ACS712</a:t>
            </a:r>
            <a:r>
              <a:rPr b="0" lang="en-US" sz="1900" spc="-1" strike="noStrike">
                <a:solidFill>
                  <a:srgbClr val="1b2a52"/>
                </a:solidFill>
                <a:latin typeface="Calibri"/>
                <a:ea typeface="Calibri"/>
              </a:rPr>
              <a:t> + </a:t>
            </a:r>
            <a:r>
              <a:rPr b="0" lang="en-US" sz="3200" spc="-1" strike="noStrike">
                <a:solidFill>
                  <a:srgbClr val="1b2a52"/>
                </a:solidFill>
                <a:latin typeface="Calibri"/>
                <a:ea typeface="Calibri"/>
              </a:rPr>
              <a:t>ADC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219"/>
          <p:cNvSpPr/>
          <p:nvPr/>
        </p:nvSpPr>
        <p:spPr>
          <a:xfrm>
            <a:off x="8765280" y="22327200"/>
            <a:ext cx="32065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579d1c"/>
                </a:solidFill>
                <a:latin typeface="Calibri"/>
                <a:ea typeface="Calibri"/>
              </a:rPr>
              <a:t>Shoot-through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220"/>
          <p:cNvSpPr/>
          <p:nvPr/>
        </p:nvSpPr>
        <p:spPr>
          <a:xfrm>
            <a:off x="12047040" y="22291200"/>
            <a:ext cx="2737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1b2a52"/>
                </a:solidFill>
                <a:latin typeface="Calibri"/>
                <a:ea typeface="Calibri"/>
              </a:rPr>
              <a:t>PWM</a:t>
            </a:r>
            <a:r>
              <a:rPr b="0" lang="en-US" sz="1900" spc="-1" strike="noStrike">
                <a:solidFill>
                  <a:srgbClr val="1b2a52"/>
                </a:solidFill>
                <a:latin typeface="Calibri"/>
                <a:ea typeface="Calibri"/>
              </a:rPr>
              <a:t> </a:t>
            </a:r>
            <a:r>
              <a:rPr b="0" lang="en-US" sz="3200" spc="-1" strike="noStrike">
                <a:solidFill>
                  <a:srgbClr val="1b2a52"/>
                </a:solidFill>
                <a:latin typeface="Calibri"/>
                <a:ea typeface="Calibri"/>
              </a:rPr>
              <a:t>dead-time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22"/>
          <p:cNvSpPr/>
          <p:nvPr/>
        </p:nvSpPr>
        <p:spPr>
          <a:xfrm>
            <a:off x="8692200" y="22911840"/>
            <a:ext cx="7811280" cy="546480"/>
          </a:xfrm>
          <a:prstGeom prst="rect">
            <a:avLst/>
          </a:prstGeom>
          <a:solidFill>
            <a:srgbClr val="ede9dc"/>
          </a:solidFill>
          <a:ln w="12700">
            <a:solidFill>
              <a:srgbClr val="ede9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223"/>
          <p:cNvSpPr/>
          <p:nvPr/>
        </p:nvSpPr>
        <p:spPr>
          <a:xfrm>
            <a:off x="8765280" y="22875840"/>
            <a:ext cx="32065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579d1c"/>
                </a:solidFill>
                <a:latin typeface="Calibri"/>
                <a:ea typeface="Calibri"/>
              </a:rPr>
              <a:t>Under/overvolt.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24"/>
          <p:cNvSpPr/>
          <p:nvPr/>
        </p:nvSpPr>
        <p:spPr>
          <a:xfrm>
            <a:off x="12047040" y="22875840"/>
            <a:ext cx="30236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1b2a52"/>
                </a:solidFill>
                <a:latin typeface="Calibri"/>
                <a:ea typeface="Calibri"/>
              </a:rPr>
              <a:t>Isolated</a:t>
            </a:r>
            <a:r>
              <a:rPr b="0" lang="en-US" sz="1900" spc="-1" strike="noStrike">
                <a:solidFill>
                  <a:srgbClr val="1b2a52"/>
                </a:solidFill>
                <a:latin typeface="Calibri"/>
                <a:ea typeface="Calibri"/>
              </a:rPr>
              <a:t> </a:t>
            </a:r>
            <a:r>
              <a:rPr b="0" lang="en-US" sz="3200" spc="-1" strike="noStrike">
                <a:solidFill>
                  <a:srgbClr val="1b2a52"/>
                </a:solidFill>
                <a:latin typeface="Calibri"/>
                <a:ea typeface="Calibri"/>
              </a:rPr>
              <a:t>MCP3201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26"/>
          <p:cNvSpPr/>
          <p:nvPr/>
        </p:nvSpPr>
        <p:spPr>
          <a:xfrm>
            <a:off x="8765280" y="23424480"/>
            <a:ext cx="32065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579d1c"/>
                </a:solidFill>
                <a:latin typeface="Calibri"/>
                <a:ea typeface="Calibri"/>
              </a:rPr>
              <a:t>Voltage</a:t>
            </a:r>
            <a:r>
              <a:rPr b="1" lang="en-US" sz="1900" spc="-1" strike="noStrike">
                <a:solidFill>
                  <a:srgbClr val="c8312e"/>
                </a:solidFill>
                <a:latin typeface="Calibri"/>
                <a:ea typeface="Calibri"/>
              </a:rPr>
              <a:t> </a:t>
            </a:r>
            <a:r>
              <a:rPr b="1" lang="en-US" sz="3200" spc="-1" strike="noStrike">
                <a:solidFill>
                  <a:srgbClr val="579d1c"/>
                </a:solidFill>
                <a:latin typeface="Calibri"/>
                <a:ea typeface="Calibri"/>
              </a:rPr>
              <a:t>spike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227"/>
          <p:cNvSpPr/>
          <p:nvPr/>
        </p:nvSpPr>
        <p:spPr>
          <a:xfrm>
            <a:off x="12047040" y="23424480"/>
            <a:ext cx="2737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1b2a52"/>
                </a:solidFill>
                <a:latin typeface="Calibri"/>
                <a:ea typeface="Calibri"/>
              </a:rPr>
              <a:t>1.5KE62A</a:t>
            </a:r>
            <a:r>
              <a:rPr b="0" lang="en-US" sz="1900" spc="-1" strike="noStrike">
                <a:solidFill>
                  <a:srgbClr val="1b2a52"/>
                </a:solidFill>
                <a:latin typeface="Calibri"/>
                <a:ea typeface="Calibri"/>
              </a:rPr>
              <a:t> </a:t>
            </a:r>
            <a:r>
              <a:rPr b="0" lang="en-US" sz="3200" spc="-1" strike="noStrike">
                <a:solidFill>
                  <a:srgbClr val="1b2a52"/>
                </a:solidFill>
                <a:latin typeface="Calibri"/>
                <a:ea typeface="Calibri"/>
              </a:rPr>
              <a:t>TVS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29"/>
          <p:cNvSpPr/>
          <p:nvPr/>
        </p:nvSpPr>
        <p:spPr>
          <a:xfrm>
            <a:off x="8692200" y="24009120"/>
            <a:ext cx="7811280" cy="546480"/>
          </a:xfrm>
          <a:prstGeom prst="rect">
            <a:avLst/>
          </a:prstGeom>
          <a:solidFill>
            <a:srgbClr val="ede9dc"/>
          </a:solidFill>
          <a:ln w="12700">
            <a:solidFill>
              <a:srgbClr val="ede9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3200" spc="-1" strike="noStrike">
              <a:solidFill>
                <a:srgbClr val="1b2a52"/>
              </a:solidFill>
              <a:latin typeface="Calibri"/>
              <a:ea typeface="Calibri"/>
            </a:endParaRPr>
          </a:p>
        </p:txBody>
      </p:sp>
      <p:sp>
        <p:nvSpPr>
          <p:cNvPr id="216" name="Text 230"/>
          <p:cNvSpPr/>
          <p:nvPr/>
        </p:nvSpPr>
        <p:spPr>
          <a:xfrm>
            <a:off x="8765280" y="23973120"/>
            <a:ext cx="32065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>
              <a:lnSpc>
                <a:spcPct val="100000"/>
              </a:lnSpc>
            </a:pPr>
            <a:r>
              <a:rPr b="1" lang="en-US" sz="3200" spc="-1" strike="noStrike">
                <a:solidFill>
                  <a:srgbClr val="579d1c"/>
                </a:solidFill>
                <a:latin typeface="Calibri"/>
                <a:ea typeface="Calibri"/>
              </a:rPr>
              <a:t>Reverse</a:t>
            </a:r>
            <a:r>
              <a:rPr b="1" lang="en-US" sz="1900" spc="-1" strike="noStrike">
                <a:solidFill>
                  <a:srgbClr val="c8312e"/>
                </a:solidFill>
                <a:latin typeface="Calibri"/>
                <a:ea typeface="Calibri"/>
              </a:rPr>
              <a:t> </a:t>
            </a:r>
            <a:r>
              <a:rPr b="1" lang="en-US" sz="3200" spc="-1" strike="noStrike">
                <a:solidFill>
                  <a:srgbClr val="579d1c"/>
                </a:solidFill>
                <a:latin typeface="Calibri"/>
                <a:ea typeface="Calibri"/>
              </a:rPr>
              <a:t>polarity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231"/>
          <p:cNvSpPr/>
          <p:nvPr/>
        </p:nvSpPr>
        <p:spPr>
          <a:xfrm>
            <a:off x="12047040" y="24029640"/>
            <a:ext cx="237852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1b2a52"/>
                </a:solidFill>
                <a:latin typeface="Calibri"/>
              </a:rPr>
              <a:t>1N5408 + fuse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34"/>
          <p:cNvSpPr/>
          <p:nvPr/>
        </p:nvSpPr>
        <p:spPr>
          <a:xfrm>
            <a:off x="720000" y="28983600"/>
            <a:ext cx="226440" cy="775080"/>
          </a:xfrm>
          <a:prstGeom prst="rect">
            <a:avLst/>
          </a:prstGeom>
          <a:solidFill>
            <a:srgbClr val="f2c200"/>
          </a:solidFill>
          <a:ln w="12700">
            <a:solidFill>
              <a:srgbClr val="f2c2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235"/>
          <p:cNvSpPr/>
          <p:nvPr/>
        </p:nvSpPr>
        <p:spPr>
          <a:xfrm>
            <a:off x="1099080" y="28857960"/>
            <a:ext cx="1643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483" strike="noStrike">
                <a:solidFill>
                  <a:srgbClr val="f2c200"/>
                </a:solidFill>
                <a:latin typeface="Calibri"/>
                <a:ea typeface="Calibri"/>
              </a:rPr>
              <a:t>03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236"/>
          <p:cNvSpPr/>
          <p:nvPr/>
        </p:nvSpPr>
        <p:spPr>
          <a:xfrm>
            <a:off x="1085760" y="29257920"/>
            <a:ext cx="74455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83" strike="noStrike">
                <a:solidFill>
                  <a:srgbClr val="1b2a52"/>
                </a:solidFill>
                <a:latin typeface="Arial Black"/>
                <a:ea typeface="Arial Black"/>
              </a:rPr>
              <a:t>POWER STAGE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237"/>
          <p:cNvSpPr/>
          <p:nvPr/>
        </p:nvSpPr>
        <p:spPr>
          <a:xfrm>
            <a:off x="720000" y="29813400"/>
            <a:ext cx="7811280" cy="20880"/>
          </a:xfrm>
          <a:prstGeom prst="rect">
            <a:avLst/>
          </a:prstGeom>
          <a:solidFill>
            <a:srgbClr val="f2c200"/>
          </a:solidFill>
          <a:ln w="12700">
            <a:solidFill>
              <a:srgbClr val="f2c2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3400" bIns="-234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238"/>
          <p:cNvSpPr/>
          <p:nvPr/>
        </p:nvSpPr>
        <p:spPr>
          <a:xfrm>
            <a:off x="720000" y="29927160"/>
            <a:ext cx="7811280" cy="347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2c200"/>
                </a:solidFill>
                <a:latin typeface="Calibri"/>
                <a:ea typeface="Calibri"/>
              </a:rPr>
              <a:t>•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Two full H-bridges are connected in series.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2c200"/>
                </a:solidFill>
                <a:latin typeface="Calibri"/>
                <a:ea typeface="Calibri"/>
              </a:rPr>
              <a:t>•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Each bridge uses four IRFB4110 MOSFETs.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2c200"/>
                </a:solidFill>
                <a:latin typeface="Calibri"/>
                <a:ea typeface="Calibri"/>
              </a:rPr>
              <a:t>•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TLP250 optocouplers drive and isolate each gate.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2c200"/>
                </a:solidFill>
                <a:latin typeface="Calibri"/>
                <a:ea typeface="Calibri"/>
              </a:rPr>
              <a:t>•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Bootstrap supply supports high-side switching.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f2c200"/>
                </a:solidFill>
                <a:latin typeface="Calibri"/>
                <a:ea typeface="Calibri"/>
              </a:rPr>
              <a:t>•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Microsoft YaHei"/>
              </a:rPr>
              <a:t>TVS and snubber reduce switching stress.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239"/>
          <p:cNvSpPr/>
          <p:nvPr/>
        </p:nvSpPr>
        <p:spPr>
          <a:xfrm>
            <a:off x="8819280" y="25108560"/>
            <a:ext cx="226440" cy="775080"/>
          </a:xfrm>
          <a:prstGeom prst="rect">
            <a:avLst/>
          </a:prstGeom>
          <a:solidFill>
            <a:srgbClr val="4b1f6f"/>
          </a:solidFill>
          <a:ln w="12700">
            <a:solidFill>
              <a:srgbClr val="4b1f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240"/>
          <p:cNvSpPr/>
          <p:nvPr/>
        </p:nvSpPr>
        <p:spPr>
          <a:xfrm>
            <a:off x="9185040" y="24990840"/>
            <a:ext cx="1643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483" strike="noStrike">
                <a:solidFill>
                  <a:srgbClr val="4b1f6f"/>
                </a:solidFill>
                <a:latin typeface="Calibri"/>
                <a:ea typeface="Calibri"/>
              </a:rPr>
              <a:t>05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41"/>
          <p:cNvSpPr/>
          <p:nvPr/>
        </p:nvSpPr>
        <p:spPr>
          <a:xfrm>
            <a:off x="9185040" y="25382880"/>
            <a:ext cx="74455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83" strike="noStrike">
                <a:solidFill>
                  <a:srgbClr val="1b2a52"/>
                </a:solidFill>
                <a:latin typeface="Arial Black"/>
                <a:ea typeface="Arial Black"/>
              </a:rPr>
              <a:t>MODULATION STRATEGY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242"/>
          <p:cNvSpPr/>
          <p:nvPr/>
        </p:nvSpPr>
        <p:spPr>
          <a:xfrm>
            <a:off x="8819280" y="25938360"/>
            <a:ext cx="7811280" cy="20880"/>
          </a:xfrm>
          <a:prstGeom prst="rect">
            <a:avLst/>
          </a:prstGeom>
          <a:solidFill>
            <a:srgbClr val="4b1f6f"/>
          </a:solidFill>
          <a:ln w="12700">
            <a:solidFill>
              <a:srgbClr val="4b1f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244"/>
          <p:cNvSpPr/>
          <p:nvPr/>
        </p:nvSpPr>
        <p:spPr>
          <a:xfrm>
            <a:off x="8819280" y="28949040"/>
            <a:ext cx="78112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245"/>
          <p:cNvSpPr/>
          <p:nvPr/>
        </p:nvSpPr>
        <p:spPr>
          <a:xfrm>
            <a:off x="9036000" y="30096000"/>
            <a:ext cx="7811280" cy="41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4b1f6f"/>
                </a:solidFill>
                <a:latin typeface="Calibri"/>
                <a:ea typeface="Calibri"/>
              </a:rPr>
              <a:t>•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Both bridges use the same sinusoidal reference.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4b1f6f"/>
                </a:solidFill>
                <a:latin typeface="Calibri"/>
                <a:ea typeface="Calibri"/>
              </a:rPr>
              <a:t>•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Bridge 2 carrier is shifted by 90°.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4b1f6f"/>
                </a:solidFill>
                <a:latin typeface="Calibri"/>
                <a:ea typeface="Calibri"/>
              </a:rPr>
              <a:t>•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Switching events are interleaved between bridges.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4b1f6f"/>
                </a:solidFill>
                <a:latin typeface="Calibri"/>
                <a:ea typeface="Calibri"/>
              </a:rPr>
              <a:t>•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The series output produces five voltage levels.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252"/>
          <p:cNvSpPr/>
          <p:nvPr/>
        </p:nvSpPr>
        <p:spPr>
          <a:xfrm>
            <a:off x="16998840" y="19611360"/>
            <a:ext cx="226440" cy="775080"/>
          </a:xfrm>
          <a:prstGeom prst="rect">
            <a:avLst/>
          </a:prstGeom>
          <a:solidFill>
            <a:srgbClr val="004586"/>
          </a:solidFill>
          <a:ln w="12700">
            <a:solidFill>
              <a:srgbClr val="0045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253"/>
          <p:cNvSpPr/>
          <p:nvPr/>
        </p:nvSpPr>
        <p:spPr>
          <a:xfrm>
            <a:off x="17364600" y="19493640"/>
            <a:ext cx="16437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3200" spc="483" strike="noStrike">
                <a:solidFill>
                  <a:srgbClr val="004586"/>
                </a:solidFill>
                <a:latin typeface="Calibri"/>
                <a:ea typeface="Calibri"/>
              </a:rPr>
              <a:t>06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254"/>
          <p:cNvSpPr/>
          <p:nvPr/>
        </p:nvSpPr>
        <p:spPr>
          <a:xfrm>
            <a:off x="17364600" y="19885680"/>
            <a:ext cx="74455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4000" spc="83" strike="noStrike">
                <a:solidFill>
                  <a:srgbClr val="1b2a52"/>
                </a:solidFill>
                <a:latin typeface="Arial Black"/>
                <a:ea typeface="Arial Black"/>
              </a:rPr>
              <a:t>RESULTS &amp; DISCUSSION 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255"/>
          <p:cNvSpPr/>
          <p:nvPr/>
        </p:nvSpPr>
        <p:spPr>
          <a:xfrm>
            <a:off x="16998840" y="20441160"/>
            <a:ext cx="7811280" cy="20880"/>
          </a:xfrm>
          <a:prstGeom prst="rect">
            <a:avLst/>
          </a:prstGeom>
          <a:solidFill>
            <a:srgbClr val="004586"/>
          </a:solidFill>
          <a:ln w="12700">
            <a:solidFill>
              <a:srgbClr val="0045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3040" bIns="-2304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258"/>
          <p:cNvSpPr/>
          <p:nvPr/>
        </p:nvSpPr>
        <p:spPr>
          <a:xfrm>
            <a:off x="17088840" y="20664000"/>
            <a:ext cx="7750440" cy="4859280"/>
          </a:xfrm>
          <a:prstGeom prst="rect">
            <a:avLst/>
          </a:prstGeom>
          <a:noFill/>
          <a:ln w="29160">
            <a:solidFill>
              <a:srgbClr val="00458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259"/>
          <p:cNvSpPr/>
          <p:nvPr/>
        </p:nvSpPr>
        <p:spPr>
          <a:xfrm>
            <a:off x="21019680" y="21851640"/>
            <a:ext cx="3790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279"/>
          <p:cNvSpPr/>
          <p:nvPr/>
        </p:nvSpPr>
        <p:spPr>
          <a:xfrm>
            <a:off x="17202600" y="25655040"/>
            <a:ext cx="7491240" cy="70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pc="-1" strike="noStrike">
                <a:solidFill>
                  <a:srgbClr val="004586"/>
                </a:solidFill>
                <a:latin typeface="Calibri"/>
                <a:ea typeface="Calibri"/>
              </a:rPr>
              <a:t>The scope captures confirm correct cascading:</a:t>
            </a:r>
            <a:r>
              <a:rPr b="0" lang="en-US" sz="3200" spc="-1" strike="noStrike">
                <a:solidFill>
                  <a:srgbClr val="1b2a52"/>
                </a:solidFill>
                <a:latin typeface="Calibri"/>
                <a:ea typeface="Calibri"/>
              </a:rPr>
              <a:t> five distinct levels per fundamental cycle and a clean high-side gate drive across the full duty range. Isolated sensing kept the STM32 safe through every injected fault, and phase-shifted PWM balanced switching events across both bridges.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3200" spc="-1" strike="noStrike">
                <a:solidFill>
                  <a:srgbClr val="004586"/>
                </a:solidFill>
                <a:latin typeface="Calibri"/>
                <a:ea typeface="Calibri"/>
              </a:rPr>
              <a:t>Future work:</a:t>
            </a:r>
            <a:r>
              <a:rPr b="0" lang="en-US" sz="3200" spc="-1" strike="noStrike">
                <a:solidFill>
                  <a:srgbClr val="1b2a52"/>
                </a:solidFill>
                <a:latin typeface="Calibri"/>
                <a:ea typeface="Calibri"/>
              </a:rPr>
              <a:t> closed-loop current control for grid-tie phase locking, scaling to higher bus voltages with additional cascaded modules.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280"/>
          <p:cNvSpPr/>
          <p:nvPr/>
        </p:nvSpPr>
        <p:spPr>
          <a:xfrm>
            <a:off x="17044560" y="34200000"/>
            <a:ext cx="162360" cy="162360"/>
          </a:xfrm>
          <a:prstGeom prst="rect">
            <a:avLst/>
          </a:prstGeom>
          <a:solidFill>
            <a:srgbClr val="b8861b"/>
          </a:solidFill>
          <a:ln w="12700">
            <a:solidFill>
              <a:srgbClr val="b886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281"/>
          <p:cNvSpPr/>
          <p:nvPr/>
        </p:nvSpPr>
        <p:spPr>
          <a:xfrm>
            <a:off x="17318880" y="34035480"/>
            <a:ext cx="7491240" cy="9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b2a52"/>
                </a:solidFill>
                <a:latin typeface="Calibri"/>
                <a:ea typeface="Calibri"/>
              </a:rPr>
              <a:t>Modular two-board cascade extends naturally to N-level by adding identical bridge modules end-to-end.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282"/>
          <p:cNvSpPr/>
          <p:nvPr/>
        </p:nvSpPr>
        <p:spPr>
          <a:xfrm>
            <a:off x="17044560" y="35068680"/>
            <a:ext cx="162360" cy="162360"/>
          </a:xfrm>
          <a:prstGeom prst="rect">
            <a:avLst/>
          </a:prstGeom>
          <a:solidFill>
            <a:srgbClr val="b8861b"/>
          </a:solidFill>
          <a:ln w="12700">
            <a:solidFill>
              <a:srgbClr val="b8861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284"/>
          <p:cNvSpPr/>
          <p:nvPr/>
        </p:nvSpPr>
        <p:spPr>
          <a:xfrm>
            <a:off x="640080" y="34148880"/>
            <a:ext cx="24170040" cy="1460880"/>
          </a:xfrm>
          <a:prstGeom prst="rect">
            <a:avLst/>
          </a:prstGeom>
          <a:solidFill>
            <a:srgbClr val="f4f1e8"/>
          </a:solidFill>
          <a:ln w="19050">
            <a:solidFill>
              <a:srgbClr val="1b2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285"/>
          <p:cNvSpPr/>
          <p:nvPr/>
        </p:nvSpPr>
        <p:spPr>
          <a:xfrm>
            <a:off x="731520" y="34240320"/>
            <a:ext cx="23987160" cy="1278000"/>
          </a:xfrm>
          <a:prstGeom prst="rect">
            <a:avLst/>
          </a:prstGeom>
          <a:solidFill>
            <a:srgbClr val="f4f1e8"/>
          </a:solidFill>
          <a:ln w="6350">
            <a:solidFill>
              <a:srgbClr val="1b2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286"/>
          <p:cNvSpPr/>
          <p:nvPr/>
        </p:nvSpPr>
        <p:spPr>
          <a:xfrm>
            <a:off x="914400" y="34413480"/>
            <a:ext cx="23621400" cy="10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2600" spc="284" strike="noStrike">
                <a:solidFill>
                  <a:srgbClr val="c8312e"/>
                </a:solidFill>
                <a:latin typeface="Calibri"/>
                <a:ea typeface="Calibri"/>
              </a:rPr>
              <a:t>REFERENCES   </a:t>
            </a:r>
            <a:r>
              <a:rPr b="0" lang="en-US" sz="2600" spc="-1" strike="noStrike">
                <a:solidFill>
                  <a:srgbClr val="5b6378"/>
                </a:solidFill>
                <a:latin typeface="Calibri"/>
                <a:ea typeface="Calibri"/>
              </a:rPr>
              <a:t>[1] IEEE 519-2022    [2] M. H. Rashid, Power Electronics, 4th ed.    [3] Infineon IRFB4110    [4] Toshiba TLP250    [5] Microchip MCP3201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2600" spc="284" strike="noStrike">
                <a:solidFill>
                  <a:srgbClr val="c8312e"/>
                </a:solidFill>
                <a:latin typeface="Calibri"/>
                <a:ea typeface="Calibri"/>
              </a:rPr>
              <a:t>ACKNOWLEDGEMENTS   </a:t>
            </a:r>
            <a:r>
              <a:rPr b="0" lang="en-US" sz="2600" spc="-1" strike="noStrike">
                <a:solidFill>
                  <a:srgbClr val="5b6378"/>
                </a:solidFill>
                <a:latin typeface="Calibri"/>
                <a:ea typeface="Calibri"/>
              </a:rPr>
              <a:t>Hacettepe University, Faculty of Engineering, Department of Electrical and Electronics Engineering · ELE 401/402 · 2025–2026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2" name="" descr=""/>
          <p:cNvPicPr/>
          <p:nvPr/>
        </p:nvPicPr>
        <p:blipFill>
          <a:blip r:embed="rId2"/>
          <a:stretch/>
        </p:blipFill>
        <p:spPr>
          <a:xfrm>
            <a:off x="2194920" y="842400"/>
            <a:ext cx="2284920" cy="2284920"/>
          </a:xfrm>
          <a:prstGeom prst="rect">
            <a:avLst/>
          </a:prstGeom>
          <a:ln w="0">
            <a:noFill/>
          </a:ln>
        </p:spPr>
      </p:pic>
      <p:pic>
        <p:nvPicPr>
          <p:cNvPr id="243" name="" descr=""/>
          <p:cNvPicPr/>
          <p:nvPr/>
        </p:nvPicPr>
        <p:blipFill>
          <a:blip r:embed="rId3"/>
          <a:stretch/>
        </p:blipFill>
        <p:spPr>
          <a:xfrm>
            <a:off x="19512000" y="880560"/>
            <a:ext cx="4755600" cy="2036880"/>
          </a:xfrm>
          <a:prstGeom prst="rect">
            <a:avLst/>
          </a:prstGeom>
          <a:ln w="0">
            <a:noFill/>
          </a:ln>
        </p:spPr>
      </p:pic>
      <p:pic>
        <p:nvPicPr>
          <p:cNvPr id="244" name="" descr=""/>
          <p:cNvPicPr/>
          <p:nvPr/>
        </p:nvPicPr>
        <p:blipFill>
          <a:blip r:embed="rId4"/>
          <a:stretch/>
        </p:blipFill>
        <p:spPr>
          <a:xfrm>
            <a:off x="8845560" y="26196840"/>
            <a:ext cx="7729920" cy="3825000"/>
          </a:xfrm>
          <a:prstGeom prst="rect">
            <a:avLst/>
          </a:prstGeom>
          <a:ln w="29160">
            <a:solidFill>
              <a:srgbClr val="4b1f6f"/>
            </a:solidFill>
            <a:round/>
          </a:ln>
        </p:spPr>
      </p:pic>
      <p:pic>
        <p:nvPicPr>
          <p:cNvPr id="245" name="" descr=""/>
          <p:cNvPicPr/>
          <p:nvPr/>
        </p:nvPicPr>
        <p:blipFill>
          <a:blip r:embed="rId5"/>
          <a:srcRect l="0" t="0" r="0" b="12833"/>
          <a:stretch/>
        </p:blipFill>
        <p:spPr>
          <a:xfrm>
            <a:off x="17199360" y="20774520"/>
            <a:ext cx="7530480" cy="4605480"/>
          </a:xfrm>
          <a:prstGeom prst="rect">
            <a:avLst/>
          </a:prstGeom>
          <a:ln w="0">
            <a:noFill/>
          </a:ln>
        </p:spPr>
      </p:pic>
      <p:pic>
        <p:nvPicPr>
          <p:cNvPr id="246" name="" descr=""/>
          <p:cNvPicPr/>
          <p:nvPr/>
        </p:nvPicPr>
        <p:blipFill>
          <a:blip r:embed="rId6"/>
          <a:stretch/>
        </p:blipFill>
        <p:spPr>
          <a:xfrm>
            <a:off x="1512000" y="2663640"/>
            <a:ext cx="13619880" cy="10215000"/>
          </a:xfrm>
          <a:prstGeom prst="rect">
            <a:avLst/>
          </a:prstGeom>
          <a:ln w="0">
            <a:noFill/>
          </a:ln>
          <a:effectLst>
            <a:outerShdw dist="197537" dir="2700000" blurRad="165240" rotWithShape="0">
              <a:srgbClr val="000000">
                <a:alpha val="22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</TotalTime>
  <Application>LibreOffice/24.2.5.2$Windows_X86_64 LibreOffice_project/bffef4ea93e59bebbeaf7f431bb02b1a39ee8a59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2026-05-15T19:24:28Z</dcterms:created>
  <dc:creator>PptxGenJS</dc:creator>
  <dc:description/>
  <dc:language>en-GB</dc:language>
  <cp:lastModifiedBy/>
  <cp:lastPrinted>2026-05-19T23:50:51Z</cp:lastPrinted>
  <dcterms:modified xsi:type="dcterms:W3CDTF">2026-05-19T23:59:13Z</dcterms:modified>
  <cp:revision>19</cp:revision>
  <dc:subject>PptxGenJS Presentation</dc:subject>
  <dc:title>5-LEVEL CASCADED H-BRIDGE MULTILEVEL INVERTER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1</vt:i4>
  </property>
</Properties>
</file>